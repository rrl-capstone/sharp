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74" r:id="rId4"/>
    <p:sldId id="277" r:id="rId6"/>
    <p:sldId id="276" r:id="rId7"/>
    <p:sldId id="27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OHDSI-3 Group 3  |  Care quality in people with and without HIV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type="body" idx="101" hasCustomPrompt="1"/>
          </p:nvPr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9D6E0"/>
                </a:solidFill>
                <a:latin typeface="Calibri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OHDSI-3 Group 3  |  Care quality in people with and without HIV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563880" y="2782570"/>
            <a:ext cx="11064240" cy="822960"/>
          </a:xfrm>
        </p:spPr>
        <p:txBody>
          <a:bodyPr/>
          <a:lstStyle/>
          <a:p>
            <a:r>
              <a:rPr lang="en-US" altLang="en-US" sz="3200" b="1">
                <a:solidFill>
                  <a:schemeClr val="tx1"/>
                </a:solidFill>
                <a:latin typeface="Cambria"/>
              </a:rPr>
              <a:t>Progress, Challenges &amp; Next Steps</a:t>
            </a:r>
            <a:endParaRPr lang="en-US" altLang="en-US" sz="3200" b="1">
              <a:solidFill>
                <a:schemeClr val="tx1"/>
              </a:solidFill>
              <a:latin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>
          <a:xfrm>
            <a:off x="548640" y="332105"/>
            <a:ext cx="11064240" cy="822960"/>
          </a:xfrm>
        </p:spPr>
        <p:txBody>
          <a:bodyPr/>
          <a:lstStyle/>
          <a:p>
            <a:r>
              <a:rPr sz="3200" b="1">
                <a:solidFill>
                  <a:schemeClr val="tx1"/>
                </a:solidFill>
                <a:latin typeface="Cambria"/>
              </a:rPr>
              <a:t>Progress so far</a:t>
            </a:r>
            <a:endParaRPr sz="3200" b="1">
              <a:solidFill>
                <a:schemeClr val="tx1"/>
              </a:solidFill>
              <a:latin typeface="Cambria"/>
            </a:endParaRPr>
          </a:p>
        </p:txBody>
      </p:sp>
      <p:sp>
        <p:nvSpPr>
          <p:cNvPr id="54" name="s19"/>
          <p:cNvSpPr/>
          <p:nvPr/>
        </p:nvSpPr>
        <p:spPr>
          <a:xfrm>
            <a:off x="548640" y="1428750"/>
            <a:ext cx="2075688" cy="2926080"/>
          </a:xfrm>
          <a:prstGeom prst="roundRect">
            <a:avLst>
              <a:gd name="adj" fmla="val 3524"/>
            </a:avLst>
          </a:prstGeom>
          <a:solidFill>
            <a:schemeClr val="bg2"/>
          </a:solidFill>
        </p:spPr>
      </p:sp>
      <p:sp>
        <p:nvSpPr>
          <p:cNvPr id="55" name="t20"/>
          <p:cNvSpPr txBox="1"/>
          <p:nvPr/>
        </p:nvSpPr>
        <p:spPr>
          <a:xfrm>
            <a:off x="731520" y="161163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56" name="t21"/>
          <p:cNvSpPr txBox="1"/>
          <p:nvPr/>
        </p:nvSpPr>
        <p:spPr>
          <a:xfrm>
            <a:off x="731520" y="193167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Eligible People</a:t>
            </a:r>
            <a:endParaRPr lang="en-US" sz="1900" dirty="0"/>
          </a:p>
        </p:txBody>
      </p:sp>
      <p:sp>
        <p:nvSpPr>
          <p:cNvPr id="57" name="t22"/>
          <p:cNvSpPr txBox="1"/>
          <p:nvPr/>
        </p:nvSpPr>
        <p:spPr>
          <a:xfrm>
            <a:off x="731520" y="248031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Age 50+, alive all year, same insurance all year, no missing demographics</a:t>
            </a:r>
            <a:endParaRPr lang="en-US" sz="1400" dirty="0">
              <a:solidFill>
                <a:schemeClr val="accent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8" name="s23"/>
          <p:cNvSpPr/>
          <p:nvPr/>
        </p:nvSpPr>
        <p:spPr>
          <a:xfrm>
            <a:off x="731520" y="3806190"/>
            <a:ext cx="1709928" cy="329184"/>
          </a:xfrm>
          <a:prstGeom prst="roundRect">
            <a:avLst>
              <a:gd name="adj" fmla="val 22222"/>
            </a:avLst>
          </a:prstGeom>
          <a:solidFill>
            <a:srgbClr val="2F7D52"/>
          </a:solidFill>
        </p:spPr>
      </p:sp>
      <p:sp>
        <p:nvSpPr>
          <p:cNvPr id="59" name="t24"/>
          <p:cNvSpPr txBox="1"/>
          <p:nvPr/>
        </p:nvSpPr>
        <p:spPr>
          <a:xfrm>
            <a:off x="731520" y="3806190"/>
            <a:ext cx="1709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60" name="t25"/>
          <p:cNvSpPr txBox="1"/>
          <p:nvPr/>
        </p:nvSpPr>
        <p:spPr>
          <a:xfrm>
            <a:off x="2624328" y="2571750"/>
            <a:ext cx="182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61" name="s26"/>
          <p:cNvSpPr/>
          <p:nvPr/>
        </p:nvSpPr>
        <p:spPr>
          <a:xfrm>
            <a:off x="2807208" y="1428750"/>
            <a:ext cx="2075688" cy="2926080"/>
          </a:xfrm>
          <a:prstGeom prst="roundRect">
            <a:avLst>
              <a:gd name="adj" fmla="val 3524"/>
            </a:avLst>
          </a:prstGeom>
          <a:solidFill>
            <a:schemeClr val="bg2"/>
          </a:solidFill>
        </p:spPr>
      </p:sp>
      <p:sp>
        <p:nvSpPr>
          <p:cNvPr id="62" name="t27"/>
          <p:cNvSpPr txBox="1"/>
          <p:nvPr/>
        </p:nvSpPr>
        <p:spPr>
          <a:xfrm>
            <a:off x="2990088" y="161163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63" name="t28"/>
          <p:cNvSpPr txBox="1"/>
          <p:nvPr/>
        </p:nvSpPr>
        <p:spPr>
          <a:xfrm>
            <a:off x="2990088" y="193167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HIV Cohort</a:t>
            </a:r>
            <a:endParaRPr lang="en-US" sz="1900" dirty="0"/>
          </a:p>
        </p:txBody>
      </p:sp>
      <p:sp>
        <p:nvSpPr>
          <p:cNvPr id="64" name="t29"/>
          <p:cNvSpPr txBox="1"/>
          <p:nvPr/>
        </p:nvSpPr>
        <p:spPr>
          <a:xfrm>
            <a:off x="2990088" y="248031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1 inpatient claim, 2 outpatient claims, or 2 refills within 90 days</a:t>
            </a:r>
            <a:endParaRPr lang="en-US" sz="1400" dirty="0">
              <a:solidFill>
                <a:schemeClr val="accent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5" name="s30"/>
          <p:cNvSpPr/>
          <p:nvPr/>
        </p:nvSpPr>
        <p:spPr>
          <a:xfrm>
            <a:off x="2990088" y="3806190"/>
            <a:ext cx="1709928" cy="329184"/>
          </a:xfrm>
          <a:prstGeom prst="roundRect">
            <a:avLst>
              <a:gd name="adj" fmla="val 22222"/>
            </a:avLst>
          </a:prstGeom>
          <a:solidFill>
            <a:srgbClr val="2E6A8E"/>
          </a:solidFill>
        </p:spPr>
      </p:sp>
      <p:sp>
        <p:nvSpPr>
          <p:cNvPr id="66" name="t31"/>
          <p:cNvSpPr txBox="1"/>
          <p:nvPr/>
        </p:nvSpPr>
        <p:spPr>
          <a:xfrm>
            <a:off x="2990088" y="3806190"/>
            <a:ext cx="1709928" cy="329184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b="1" dirty="0">
              <a:solidFill>
                <a:srgbClr val="FFFFFF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7" name="t32"/>
          <p:cNvSpPr txBox="1"/>
          <p:nvPr/>
        </p:nvSpPr>
        <p:spPr>
          <a:xfrm>
            <a:off x="4882896" y="2571750"/>
            <a:ext cx="182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68" name="s33"/>
          <p:cNvSpPr/>
          <p:nvPr/>
        </p:nvSpPr>
        <p:spPr>
          <a:xfrm>
            <a:off x="5065776" y="1428750"/>
            <a:ext cx="2075688" cy="2926080"/>
          </a:xfrm>
          <a:prstGeom prst="roundRect">
            <a:avLst>
              <a:gd name="adj" fmla="val 3524"/>
            </a:avLst>
          </a:prstGeom>
          <a:solidFill>
            <a:schemeClr val="bg2"/>
          </a:solidFill>
        </p:spPr>
      </p:sp>
      <p:sp>
        <p:nvSpPr>
          <p:cNvPr id="69" name="t34"/>
          <p:cNvSpPr txBox="1"/>
          <p:nvPr/>
        </p:nvSpPr>
        <p:spPr>
          <a:xfrm>
            <a:off x="5248656" y="161163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70" name="t35"/>
          <p:cNvSpPr txBox="1"/>
          <p:nvPr/>
        </p:nvSpPr>
        <p:spPr>
          <a:xfrm>
            <a:off x="5248656" y="193167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</a:t>
            </a:r>
            <a:endParaRPr lang="en-US" sz="1900" dirty="0"/>
          </a:p>
        </p:txBody>
      </p:sp>
      <p:sp>
        <p:nvSpPr>
          <p:cNvPr id="71" name="t36"/>
          <p:cNvSpPr txBox="1"/>
          <p:nvPr/>
        </p:nvSpPr>
        <p:spPr>
          <a:xfrm>
            <a:off x="5248656" y="248031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Pair each person with HIV with a similar person without HIV</a:t>
            </a:r>
            <a:endParaRPr lang="en-US" sz="1400" dirty="0">
              <a:solidFill>
                <a:schemeClr val="accent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2" name="s37"/>
          <p:cNvSpPr/>
          <p:nvPr/>
        </p:nvSpPr>
        <p:spPr>
          <a:xfrm>
            <a:off x="5248656" y="3806190"/>
            <a:ext cx="1709928" cy="329184"/>
          </a:xfrm>
          <a:prstGeom prst="roundRect">
            <a:avLst>
              <a:gd name="adj" fmla="val 22222"/>
            </a:avLst>
          </a:prstGeom>
          <a:solidFill>
            <a:srgbClr val="D9A441"/>
          </a:solidFill>
        </p:spPr>
      </p:sp>
      <p:sp>
        <p:nvSpPr>
          <p:cNvPr id="73" name="t39"/>
          <p:cNvSpPr txBox="1"/>
          <p:nvPr/>
        </p:nvSpPr>
        <p:spPr>
          <a:xfrm>
            <a:off x="7141464" y="2571750"/>
            <a:ext cx="182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74" name="s40"/>
          <p:cNvSpPr/>
          <p:nvPr/>
        </p:nvSpPr>
        <p:spPr>
          <a:xfrm>
            <a:off x="7324344" y="1428750"/>
            <a:ext cx="2075688" cy="2926080"/>
          </a:xfrm>
          <a:prstGeom prst="roundRect">
            <a:avLst>
              <a:gd name="adj" fmla="val 3524"/>
            </a:avLst>
          </a:prstGeom>
          <a:solidFill>
            <a:schemeClr val="bg2"/>
          </a:solidFill>
        </p:spPr>
      </p:sp>
      <p:sp>
        <p:nvSpPr>
          <p:cNvPr id="75" name="t41"/>
          <p:cNvSpPr txBox="1"/>
          <p:nvPr/>
        </p:nvSpPr>
        <p:spPr>
          <a:xfrm>
            <a:off x="7507224" y="161163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76" name="t42"/>
          <p:cNvSpPr txBox="1"/>
          <p:nvPr/>
        </p:nvSpPr>
        <p:spPr>
          <a:xfrm>
            <a:off x="7507224" y="193167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Measures</a:t>
            </a:r>
            <a:endParaRPr lang="en-US" sz="1900" dirty="0"/>
          </a:p>
        </p:txBody>
      </p:sp>
      <p:sp>
        <p:nvSpPr>
          <p:cNvPr id="77" name="t43"/>
          <p:cNvSpPr txBox="1"/>
          <p:nvPr/>
        </p:nvSpPr>
        <p:spPr>
          <a:xfrm>
            <a:off x="7507224" y="248031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Care quality for 10 chronic diseases, plus frailty and Gagne indexes</a:t>
            </a:r>
            <a:endParaRPr lang="en-US" sz="1400" dirty="0">
              <a:solidFill>
                <a:schemeClr val="accent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8" name="s44"/>
          <p:cNvSpPr/>
          <p:nvPr/>
        </p:nvSpPr>
        <p:spPr>
          <a:xfrm>
            <a:off x="7507224" y="3806190"/>
            <a:ext cx="1709928" cy="329184"/>
          </a:xfrm>
          <a:prstGeom prst="roundRect">
            <a:avLst>
              <a:gd name="adj" fmla="val 22222"/>
            </a:avLst>
          </a:prstGeom>
          <a:solidFill>
            <a:srgbClr val="8796A3"/>
          </a:solidFill>
        </p:spPr>
      </p:sp>
      <p:sp>
        <p:nvSpPr>
          <p:cNvPr id="79" name="t45"/>
          <p:cNvSpPr txBox="1"/>
          <p:nvPr/>
        </p:nvSpPr>
        <p:spPr>
          <a:xfrm>
            <a:off x="7507224" y="3806190"/>
            <a:ext cx="1709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80" name="t46"/>
          <p:cNvSpPr txBox="1"/>
          <p:nvPr/>
        </p:nvSpPr>
        <p:spPr>
          <a:xfrm>
            <a:off x="9400032" y="2571750"/>
            <a:ext cx="18288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accent4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81" name="s47"/>
          <p:cNvSpPr/>
          <p:nvPr/>
        </p:nvSpPr>
        <p:spPr>
          <a:xfrm>
            <a:off x="9582912" y="1428750"/>
            <a:ext cx="2075688" cy="2926080"/>
          </a:xfrm>
          <a:prstGeom prst="roundRect">
            <a:avLst>
              <a:gd name="adj" fmla="val 3524"/>
            </a:avLst>
          </a:prstGeom>
          <a:solidFill>
            <a:schemeClr val="bg2"/>
          </a:solidFill>
        </p:spPr>
      </p:sp>
      <p:sp>
        <p:nvSpPr>
          <p:cNvPr id="82" name="t48"/>
          <p:cNvSpPr txBox="1"/>
          <p:nvPr/>
        </p:nvSpPr>
        <p:spPr>
          <a:xfrm>
            <a:off x="9765792" y="161163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300" dirty="0"/>
          </a:p>
        </p:txBody>
      </p:sp>
      <p:sp>
        <p:nvSpPr>
          <p:cNvPr id="83" name="t49"/>
          <p:cNvSpPr txBox="1"/>
          <p:nvPr/>
        </p:nvSpPr>
        <p:spPr>
          <a:xfrm>
            <a:off x="9765792" y="193167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900" dirty="0"/>
          </a:p>
        </p:txBody>
      </p:sp>
      <p:sp>
        <p:nvSpPr>
          <p:cNvPr id="84" name="t50"/>
          <p:cNvSpPr txBox="1"/>
          <p:nvPr/>
        </p:nvSpPr>
        <p:spPr>
          <a:xfrm>
            <a:off x="9765792" y="2480310"/>
            <a:ext cx="173736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Compare the groups and find what predicts poor care</a:t>
            </a:r>
            <a:endParaRPr lang="en-US" sz="1400" dirty="0">
              <a:solidFill>
                <a:schemeClr val="accent6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5" name="s51"/>
          <p:cNvSpPr/>
          <p:nvPr/>
        </p:nvSpPr>
        <p:spPr>
          <a:xfrm>
            <a:off x="9765792" y="3806190"/>
            <a:ext cx="1709928" cy="329184"/>
          </a:xfrm>
          <a:prstGeom prst="roundRect">
            <a:avLst>
              <a:gd name="adj" fmla="val 22222"/>
            </a:avLst>
          </a:prstGeom>
          <a:solidFill>
            <a:srgbClr val="8796A3"/>
          </a:solidFill>
        </p:spPr>
      </p:sp>
      <p:sp>
        <p:nvSpPr>
          <p:cNvPr id="86" name="t52"/>
          <p:cNvSpPr txBox="1"/>
          <p:nvPr/>
        </p:nvSpPr>
        <p:spPr>
          <a:xfrm>
            <a:off x="9765792" y="3806190"/>
            <a:ext cx="1709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87" name="t31"/>
          <p:cNvSpPr txBox="1"/>
          <p:nvPr/>
        </p:nvSpPr>
        <p:spPr>
          <a:xfrm>
            <a:off x="5248783" y="3808095"/>
            <a:ext cx="1709928" cy="329184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b="1" dirty="0">
              <a:solidFill>
                <a:srgbClr val="FFFFFF"/>
              </a:solidFill>
              <a:latin typeface="Calibri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1"/>
          <a:stretch>
            <a:fillRect/>
          </a:stretch>
        </p:blipFill>
        <p:spPr>
          <a:xfrm>
            <a:off x="1211580" y="4537710"/>
            <a:ext cx="753745" cy="822960"/>
          </a:xfrm>
          <a:prstGeom prst="rect">
            <a:avLst/>
          </a:prstGeom>
        </p:spPr>
      </p:pic>
      <p:pic>
        <p:nvPicPr>
          <p:cNvPr id="89" name="Picture 88"/>
          <p:cNvPicPr/>
          <p:nvPr/>
        </p:nvPicPr>
        <p:blipFill>
          <a:blip r:embed="rId1"/>
          <a:stretch>
            <a:fillRect/>
          </a:stretch>
        </p:blipFill>
        <p:spPr>
          <a:xfrm>
            <a:off x="3470148" y="4537710"/>
            <a:ext cx="753745" cy="822960"/>
          </a:xfrm>
          <a:prstGeom prst="rect">
            <a:avLst/>
          </a:prstGeom>
        </p:spPr>
      </p:pic>
      <p:pic>
        <p:nvPicPr>
          <p:cNvPr id="90" name="Picture 89"/>
          <p:cNvPicPr/>
          <p:nvPr/>
        </p:nvPicPr>
        <p:blipFill>
          <a:blip r:embed="rId1"/>
          <a:stretch>
            <a:fillRect/>
          </a:stretch>
        </p:blipFill>
        <p:spPr>
          <a:xfrm>
            <a:off x="5728716" y="4537710"/>
            <a:ext cx="753745" cy="822960"/>
          </a:xfrm>
          <a:prstGeom prst="rect">
            <a:avLst/>
          </a:prstGeom>
        </p:spPr>
      </p:pic>
      <p:sp>
        <p:nvSpPr>
          <p:cNvPr id="91" name="t21"/>
          <p:cNvSpPr txBox="1"/>
          <p:nvPr/>
        </p:nvSpPr>
        <p:spPr>
          <a:xfrm>
            <a:off x="7324344" y="4720590"/>
            <a:ext cx="433425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/>
              <a:t>Phases 1–3 tested on a 1% sample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3200" dirty="0"/>
              <a:t>Stumbling blocks: i</a:t>
            </a:r>
            <a:r>
              <a:rPr lang="en-US" sz="3200" dirty="0"/>
              <a:t>dentifying the HIV population</a:t>
            </a:r>
            <a:endParaRPr lang="en-US" sz="3200" dirty="0"/>
          </a:p>
        </p:txBody>
      </p:sp>
      <p:sp>
        <p:nvSpPr>
          <p:cNvPr id="37" name="c138"/>
          <p:cNvSpPr/>
          <p:nvPr/>
        </p:nvSpPr>
        <p:spPr>
          <a:xfrm>
            <a:off x="542290" y="1623060"/>
            <a:ext cx="548640" cy="548640"/>
          </a:xfrm>
          <a:prstGeom prst="ellipse">
            <a:avLst/>
          </a:prstGeom>
          <a:solidFill>
            <a:srgbClr val="C2593A"/>
          </a:solidFill>
        </p:spPr>
      </p:sp>
      <p:sp>
        <p:nvSpPr>
          <p:cNvPr id="38" name="t139"/>
          <p:cNvSpPr txBox="1"/>
          <p:nvPr/>
        </p:nvSpPr>
        <p:spPr>
          <a:xfrm>
            <a:off x="542290" y="16230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140"/>
          <p:cNvSpPr txBox="1"/>
          <p:nvPr/>
        </p:nvSpPr>
        <p:spPr>
          <a:xfrm>
            <a:off x="1319530" y="15316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Inpatient</a:t>
            </a:r>
            <a:endParaRPr lang="en-US" sz="1700" dirty="0"/>
          </a:p>
        </p:txBody>
      </p:sp>
      <p:sp>
        <p:nvSpPr>
          <p:cNvPr id="46" name="t141"/>
          <p:cNvSpPr txBox="1"/>
          <p:nvPr/>
        </p:nvSpPr>
        <p:spPr>
          <a:xfrm>
            <a:off x="1319530" y="1897380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One inpatient claim with an HIV diagnosis</a:t>
            </a:r>
            <a:endParaRPr lang="en-US" sz="1400" dirty="0"/>
          </a:p>
        </p:txBody>
      </p:sp>
      <p:sp>
        <p:nvSpPr>
          <p:cNvPr id="47" name="c142"/>
          <p:cNvSpPr/>
          <p:nvPr/>
        </p:nvSpPr>
        <p:spPr>
          <a:xfrm>
            <a:off x="542290" y="2811780"/>
            <a:ext cx="548640" cy="548640"/>
          </a:xfrm>
          <a:prstGeom prst="ellipse">
            <a:avLst/>
          </a:prstGeom>
          <a:solidFill>
            <a:srgbClr val="C2593A"/>
          </a:solidFill>
        </p:spPr>
      </p:sp>
      <p:sp>
        <p:nvSpPr>
          <p:cNvPr id="48" name="t143"/>
          <p:cNvSpPr txBox="1"/>
          <p:nvPr/>
        </p:nvSpPr>
        <p:spPr>
          <a:xfrm>
            <a:off x="542290" y="28117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144"/>
          <p:cNvSpPr txBox="1"/>
          <p:nvPr/>
        </p:nvSpPr>
        <p:spPr>
          <a:xfrm>
            <a:off x="1319530" y="27203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Outpatient</a:t>
            </a:r>
            <a:endParaRPr lang="en-US" sz="1700" dirty="0"/>
          </a:p>
        </p:txBody>
      </p:sp>
      <p:sp>
        <p:nvSpPr>
          <p:cNvPr id="50" name="t145"/>
          <p:cNvSpPr txBox="1"/>
          <p:nvPr/>
        </p:nvSpPr>
        <p:spPr>
          <a:xfrm>
            <a:off x="1319530" y="3086100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Two outpatient claims with an HIV diagnosis, at least 7 days apart</a:t>
            </a:r>
            <a:endParaRPr lang="en-US" sz="1400" dirty="0"/>
          </a:p>
        </p:txBody>
      </p:sp>
      <p:sp>
        <p:nvSpPr>
          <p:cNvPr id="51" name="c146"/>
          <p:cNvSpPr/>
          <p:nvPr/>
        </p:nvSpPr>
        <p:spPr>
          <a:xfrm>
            <a:off x="542290" y="4000500"/>
            <a:ext cx="548640" cy="548640"/>
          </a:xfrm>
          <a:prstGeom prst="ellipse">
            <a:avLst/>
          </a:prstGeom>
          <a:solidFill>
            <a:srgbClr val="C2593A"/>
          </a:solidFill>
        </p:spPr>
      </p:sp>
      <p:sp>
        <p:nvSpPr>
          <p:cNvPr id="52" name="t147"/>
          <p:cNvSpPr txBox="1"/>
          <p:nvPr/>
        </p:nvSpPr>
        <p:spPr>
          <a:xfrm>
            <a:off x="542290" y="40005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148"/>
          <p:cNvSpPr txBox="1"/>
          <p:nvPr/>
        </p:nvSpPr>
        <p:spPr>
          <a:xfrm>
            <a:off x="1319530" y="39090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700" dirty="0"/>
          </a:p>
        </p:txBody>
      </p:sp>
      <p:sp>
        <p:nvSpPr>
          <p:cNvPr id="54" name="t149"/>
          <p:cNvSpPr txBox="1"/>
          <p:nvPr/>
        </p:nvSpPr>
        <p:spPr>
          <a:xfrm>
            <a:off x="1319530" y="4274820"/>
            <a:ext cx="38862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Two HIV drug refills within 90 days (lamivudine alone doesn't count)</a:t>
            </a:r>
            <a:endParaRPr lang="en-US" sz="1400" dirty="0"/>
          </a:p>
        </p:txBody>
      </p:sp>
      <p:sp>
        <p:nvSpPr>
          <p:cNvPr id="56" name="s75"/>
          <p:cNvSpPr/>
          <p:nvPr/>
        </p:nvSpPr>
        <p:spPr>
          <a:xfrm>
            <a:off x="6263640" y="219456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EEF3F7"/>
          </a:solidFill>
          <a:ln w="12700">
            <a:noFill/>
            <a:prstDash val="solid"/>
          </a:ln>
        </p:spPr>
      </p:sp>
      <p:sp>
        <p:nvSpPr>
          <p:cNvPr id="57" name="t76"/>
          <p:cNvSpPr txBox="1"/>
          <p:nvPr/>
        </p:nvSpPr>
        <p:spPr>
          <a:xfrm>
            <a:off x="6263640" y="219456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A8E"/>
                </a:solidFill>
              </a:rPr>
              <a:t>PrEP</a:t>
            </a:r>
            <a:endParaRPr lang="en-US" sz="1400" b="1" dirty="0">
              <a:solidFill>
                <a:srgbClr val="2E6A8E"/>
              </a:solidFill>
            </a:endParaRPr>
          </a:p>
        </p:txBody>
      </p:sp>
      <p:sp>
        <p:nvSpPr>
          <p:cNvPr id="58" name="t77"/>
          <p:cNvSpPr txBox="1"/>
          <p:nvPr/>
        </p:nvSpPr>
        <p:spPr>
          <a:xfrm>
            <a:off x="7543800" y="21488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APRETUDE and YEZTUGO prevent HIV. People must test negative for HIV before starting them.</a:t>
            </a:r>
            <a:endParaRPr lang="en-US" sz="1300" dirty="0"/>
          </a:p>
        </p:txBody>
      </p:sp>
      <p:sp>
        <p:nvSpPr>
          <p:cNvPr id="60" name="s79"/>
          <p:cNvSpPr/>
          <p:nvPr/>
        </p:nvSpPr>
        <p:spPr>
          <a:xfrm>
            <a:off x="6263640" y="3063239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EEF3F7"/>
          </a:solidFill>
          <a:ln>
            <a:noFill/>
          </a:ln>
        </p:spPr>
      </p:sp>
      <p:sp>
        <p:nvSpPr>
          <p:cNvPr id="61" name="t80"/>
          <p:cNvSpPr txBox="1"/>
          <p:nvPr/>
        </p:nvSpPr>
        <p:spPr>
          <a:xfrm>
            <a:off x="6263640" y="3063239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A8E"/>
                </a:solidFill>
              </a:rPr>
              <a:t>Hep B</a:t>
            </a:r>
            <a:endParaRPr lang="en-US" sz="1400" b="1" dirty="0">
              <a:solidFill>
                <a:srgbClr val="2E6A8E"/>
              </a:solidFill>
            </a:endParaRPr>
          </a:p>
        </p:txBody>
      </p:sp>
      <p:sp>
        <p:nvSpPr>
          <p:cNvPr id="62" name="t81"/>
          <p:cNvSpPr txBox="1"/>
          <p:nvPr/>
        </p:nvSpPr>
        <p:spPr>
          <a:xfrm>
            <a:off x="7543800" y="38862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ym typeface="+mn-ea"/>
              </a:rPr>
              <a:t>Our ritonavir search also picks up PAXLOVID (nirmatrelvir/ritonavir), a COVID-19 drug. It is the most common one.</a:t>
            </a:r>
            <a:endParaRPr lang="en-US" sz="1300" dirty="0">
              <a:sym typeface="+mn-ea"/>
            </a:endParaRPr>
          </a:p>
        </p:txBody>
      </p:sp>
      <p:sp>
        <p:nvSpPr>
          <p:cNvPr id="64" name="s83"/>
          <p:cNvSpPr/>
          <p:nvPr/>
        </p:nvSpPr>
        <p:spPr>
          <a:xfrm>
            <a:off x="6263640" y="393192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EEF3F7"/>
          </a:solidFill>
          <a:ln w="12700">
            <a:noFill/>
            <a:prstDash val="solid"/>
          </a:ln>
        </p:spPr>
      </p:sp>
      <p:sp>
        <p:nvSpPr>
          <p:cNvPr id="65" name="t84"/>
          <p:cNvSpPr txBox="1"/>
          <p:nvPr/>
        </p:nvSpPr>
        <p:spPr>
          <a:xfrm>
            <a:off x="6263640" y="393192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A8E"/>
                </a:solidFill>
              </a:rPr>
              <a:t>COVID-19</a:t>
            </a:r>
            <a:endParaRPr lang="en-US" sz="1400" b="1" dirty="0">
              <a:solidFill>
                <a:srgbClr val="2E6A8E"/>
              </a:solidFill>
            </a:endParaRPr>
          </a:p>
        </p:txBody>
      </p:sp>
      <p:sp>
        <p:nvSpPr>
          <p:cNvPr id="66" name="t85"/>
          <p:cNvSpPr txBox="1"/>
          <p:nvPr/>
        </p:nvSpPr>
        <p:spPr>
          <a:xfrm>
            <a:off x="7543800" y="30175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Tenofovir alone (VEMLIDY®, VIREAD®) also treats hepatitis B, just like lamivudine alone.</a:t>
            </a:r>
            <a:endParaRPr lang="en-US" sz="1300" dirty="0"/>
          </a:p>
        </p:txBody>
      </p:sp>
      <p:sp>
        <p:nvSpPr>
          <p:cNvPr id="68" name="s87"/>
          <p:cNvSpPr/>
          <p:nvPr/>
        </p:nvSpPr>
        <p:spPr>
          <a:xfrm>
            <a:off x="6263640" y="4800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EEF3F7"/>
          </a:solidFill>
          <a:ln>
            <a:noFill/>
          </a:ln>
        </p:spPr>
      </p:sp>
      <p:sp>
        <p:nvSpPr>
          <p:cNvPr id="69" name="t88"/>
          <p:cNvSpPr txBox="1"/>
          <p:nvPr/>
        </p:nvSpPr>
        <p:spPr>
          <a:xfrm>
            <a:off x="6263640" y="4800600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A8E"/>
                </a:solidFill>
              </a:rPr>
              <a:t>Hep C</a:t>
            </a:r>
            <a:endParaRPr lang="en-US" sz="1400" b="1" dirty="0">
              <a:solidFill>
                <a:srgbClr val="2E6A8E"/>
              </a:solidFill>
            </a:endParaRPr>
          </a:p>
        </p:txBody>
      </p:sp>
      <p:sp>
        <p:nvSpPr>
          <p:cNvPr id="70" name="t89"/>
          <p:cNvSpPr txBox="1"/>
          <p:nvPr/>
        </p:nvSpPr>
        <p:spPr>
          <a:xfrm>
            <a:off x="7543800" y="47548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The same search picks up TECHNIVIE and VIEKIRA PAK / XR, which treat hepatitis C.</a:t>
            </a:r>
            <a:endParaRPr lang="en-US" sz="1300" dirty="0"/>
          </a:p>
        </p:txBody>
      </p:sp>
      <p:sp>
        <p:nvSpPr>
          <p:cNvPr id="71" name="Left Brace 70"/>
          <p:cNvSpPr/>
          <p:nvPr/>
        </p:nvSpPr>
        <p:spPr>
          <a:xfrm>
            <a:off x="5715000" y="2194560"/>
            <a:ext cx="365760" cy="315468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2" name="t72"/>
          <p:cNvSpPr txBox="1"/>
          <p:nvPr/>
        </p:nvSpPr>
        <p:spPr>
          <a:xfrm>
            <a:off x="6263640" y="1536192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/>
              <a:t>Four drug groups that can be wrongly counted as HIV</a:t>
            </a:r>
            <a:endParaRPr lang="en-US" sz="17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sz="3200" b="1">
                <a:solidFill>
                  <a:schemeClr val="tx1"/>
                </a:solidFill>
                <a:latin typeface="Cambria"/>
              </a:rPr>
              <a:t>Challenges and what’s left to do</a:t>
            </a:r>
            <a:endParaRPr sz="3200" b="1">
              <a:solidFill>
                <a:schemeClr val="tx1"/>
              </a:solidFill>
              <a:latin typeface="Cambria"/>
            </a:endParaRPr>
          </a:p>
        </p:txBody>
      </p:sp>
      <p:sp>
        <p:nvSpPr>
          <p:cNvPr id="3" name="challenges_card"/>
          <p:cNvSpPr/>
          <p:nvPr/>
        </p:nvSpPr>
        <p:spPr>
          <a:xfrm>
            <a:off x="548640" y="1463040"/>
            <a:ext cx="5486400" cy="43434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allenges_head"/>
          <p:cNvSpPr txBox="1"/>
          <p:nvPr/>
        </p:nvSpPr>
        <p:spPr>
          <a:xfrm>
            <a:off x="822959" y="1691640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>
                <a:solidFill>
                  <a:srgbClr val="C2593A"/>
                </a:solidFill>
                <a:latin typeface="Cambria"/>
              </a:rPr>
              <a:t>Challenges</a:t>
            </a:r>
            <a:endParaRPr sz="1900" b="1">
              <a:solidFill>
                <a:srgbClr val="C2593A"/>
              </a:solidFill>
              <a:latin typeface="Cambria"/>
            </a:endParaRPr>
          </a:p>
        </p:txBody>
      </p:sp>
      <p:sp>
        <p:nvSpPr>
          <p:cNvPr id="5" name="challenges_bullets"/>
          <p:cNvSpPr txBox="1"/>
          <p:nvPr/>
        </p:nvSpPr>
        <p:spPr>
          <a:xfrm>
            <a:off x="822959" y="2240280"/>
            <a:ext cx="4937760" cy="2923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chemeClr val="tx1"/>
                </a:solidFill>
                <a:latin typeface="Calibri"/>
              </a:rPr>
              <a:t>Very big data: </a:t>
            </a:r>
            <a:r>
              <a:rPr sz="1600" b="0">
                <a:solidFill>
                  <a:schemeClr val="accent6"/>
                </a:solidFill>
                <a:latin typeface="Calibri"/>
              </a:rPr>
              <a:t>we have only tested on 1%; the full data covers hundreds of millions of people, so runs will be much slower</a:t>
            </a:r>
            <a:endParaRPr sz="1600" b="0">
              <a:solidFill>
                <a:schemeClr val="accent6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endParaRPr sz="1600" b="0">
              <a:solidFill>
                <a:schemeClr val="accent6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chemeClr val="tx1"/>
                </a:solidFill>
                <a:latin typeface="Calibri"/>
              </a:rPr>
              <a:t>Agreeing on definitions: </a:t>
            </a:r>
            <a:r>
              <a:rPr sz="1600" b="0">
                <a:solidFill>
                  <a:schemeClr val="accent6"/>
                </a:solidFill>
                <a:latin typeface="Calibri"/>
              </a:rPr>
              <a:t>e.g. which HIV rule to use, </a:t>
            </a:r>
            <a:r>
              <a:rPr lang="en-US" sz="1600" b="0">
                <a:solidFill>
                  <a:schemeClr val="accent6"/>
                </a:solidFill>
                <a:latin typeface="Calibri"/>
              </a:rPr>
              <a:t>eg. f</a:t>
            </a:r>
            <a:r>
              <a:rPr lang="en-US" altLang="en-US" sz="1600" b="0">
                <a:solidFill>
                  <a:schemeClr val="accent6"/>
                </a:solidFill>
                <a:latin typeface="Calibri"/>
              </a:rPr>
              <a:t>our drug groups that can be wrongly counted as HIV.</a:t>
            </a:r>
            <a:endParaRPr lang="en-US" altLang="en-US" sz="1600" b="0">
              <a:solidFill>
                <a:schemeClr val="accent6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endParaRPr sz="1600" b="0">
              <a:solidFill>
                <a:schemeClr val="accent6"/>
              </a:solidFill>
              <a:latin typeface="Calibri"/>
            </a:endParaRPr>
          </a:p>
          <a:p>
            <a:pPr marL="228600" indent="-228600">
              <a:spcAft>
                <a:spcPts val="900"/>
              </a:spcAft>
              <a:buChar char="•"/>
            </a:pPr>
            <a:r>
              <a:rPr sz="1600" b="1">
                <a:solidFill>
                  <a:schemeClr val="tx1"/>
                </a:solidFill>
                <a:latin typeface="Calibri"/>
              </a:rPr>
              <a:t>Strict privacy: </a:t>
            </a:r>
            <a:r>
              <a:rPr sz="1600" b="0">
                <a:solidFill>
                  <a:schemeClr val="accent6"/>
                </a:solidFill>
                <a:latin typeface="Calibri"/>
              </a:rPr>
              <a:t>personal records can never leave the secure system, so we can only check counts</a:t>
            </a:r>
            <a:endParaRPr sz="1600" b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" name="left_head"/>
          <p:cNvSpPr txBox="1"/>
          <p:nvPr/>
        </p:nvSpPr>
        <p:spPr>
          <a:xfrm>
            <a:off x="6355080" y="1691640"/>
            <a:ext cx="528523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900" b="1">
                <a:solidFill>
                  <a:srgbClr val="2E6A8E"/>
                </a:solidFill>
                <a:latin typeface="Cambria"/>
              </a:rPr>
              <a:t>What’s left to do</a:t>
            </a:r>
            <a:endParaRPr sz="1900" b="1">
              <a:solidFill>
                <a:srgbClr val="2E6A8E"/>
              </a:solidFill>
              <a:latin typeface="Cambria"/>
            </a:endParaRPr>
          </a:p>
        </p:txBody>
      </p:sp>
      <p:sp>
        <p:nvSpPr>
          <p:cNvPr id="7" name="step_card_1"/>
          <p:cNvSpPr/>
          <p:nvPr/>
        </p:nvSpPr>
        <p:spPr>
          <a:xfrm>
            <a:off x="6355080" y="2286000"/>
            <a:ext cx="5285232" cy="7772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ep_num_1"/>
          <p:cNvSpPr/>
          <p:nvPr/>
        </p:nvSpPr>
        <p:spPr>
          <a:xfrm>
            <a:off x="6537960" y="2464308"/>
            <a:ext cx="420624" cy="420624"/>
          </a:xfrm>
          <a:prstGeom prst="ellipse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step_text_1"/>
          <p:cNvSpPr txBox="1"/>
          <p:nvPr/>
        </p:nvSpPr>
        <p:spPr>
          <a:xfrm>
            <a:off x="7132320" y="2359152"/>
            <a:ext cx="4325112" cy="630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chemeClr val="tx1"/>
                </a:solidFill>
                <a:latin typeface="Calibri"/>
              </a:rPr>
              <a:t>Get feedback </a:t>
            </a:r>
            <a:r>
              <a:rPr sz="1500" b="0">
                <a:solidFill>
                  <a:schemeClr val="accent6"/>
                </a:solidFill>
                <a:latin typeface="Calibri"/>
              </a:rPr>
              <a:t>from our stakeholder, Dr. Olivieri-Mui</a:t>
            </a:r>
            <a:endParaRPr sz="1500" b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0" name="step_card_2"/>
          <p:cNvSpPr/>
          <p:nvPr/>
        </p:nvSpPr>
        <p:spPr>
          <a:xfrm>
            <a:off x="6355080" y="3172968"/>
            <a:ext cx="5285232" cy="7772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ep_num_2"/>
          <p:cNvSpPr/>
          <p:nvPr/>
        </p:nvSpPr>
        <p:spPr>
          <a:xfrm>
            <a:off x="6537960" y="3351275"/>
            <a:ext cx="420624" cy="420624"/>
          </a:xfrm>
          <a:prstGeom prst="ellipse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step_text_2"/>
          <p:cNvSpPr txBox="1"/>
          <p:nvPr/>
        </p:nvSpPr>
        <p:spPr>
          <a:xfrm>
            <a:off x="7132320" y="3246120"/>
            <a:ext cx="4325112" cy="630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chemeClr val="tx1"/>
                </a:solidFill>
                <a:latin typeface="Calibri"/>
              </a:rPr>
              <a:t>Run Phases 1–3 on the full data </a:t>
            </a:r>
            <a:r>
              <a:rPr sz="1500" b="0">
                <a:solidFill>
                  <a:schemeClr val="accent6"/>
                </a:solidFill>
                <a:latin typeface="Calibri"/>
              </a:rPr>
              <a:t>and finish the matching</a:t>
            </a:r>
            <a:endParaRPr sz="1500" b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3" name="step_card_3"/>
          <p:cNvSpPr/>
          <p:nvPr/>
        </p:nvSpPr>
        <p:spPr>
          <a:xfrm>
            <a:off x="6355080" y="4059935"/>
            <a:ext cx="5285232" cy="7772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_num_3"/>
          <p:cNvSpPr/>
          <p:nvPr/>
        </p:nvSpPr>
        <p:spPr>
          <a:xfrm>
            <a:off x="6537960" y="4238244"/>
            <a:ext cx="420624" cy="420624"/>
          </a:xfrm>
          <a:prstGeom prst="ellipse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step_text_3"/>
          <p:cNvSpPr txBox="1"/>
          <p:nvPr/>
        </p:nvSpPr>
        <p:spPr>
          <a:xfrm>
            <a:off x="7132320" y="4133087"/>
            <a:ext cx="4325112" cy="630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chemeClr val="tx1"/>
                </a:solidFill>
                <a:latin typeface="Calibri"/>
              </a:rPr>
              <a:t>Phase 4: measure care quality </a:t>
            </a:r>
            <a:r>
              <a:rPr sz="1500" b="0">
                <a:solidFill>
                  <a:schemeClr val="accent6"/>
                </a:solidFill>
                <a:latin typeface="Calibri"/>
              </a:rPr>
              <a:t>for 10 chronic diseases, plus frailty and Gagne scores</a:t>
            </a:r>
            <a:endParaRPr sz="1500" b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6" name="step_card_4"/>
          <p:cNvSpPr/>
          <p:nvPr/>
        </p:nvSpPr>
        <p:spPr>
          <a:xfrm>
            <a:off x="6355080" y="4946903"/>
            <a:ext cx="5285232" cy="77724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_num_4"/>
          <p:cNvSpPr/>
          <p:nvPr/>
        </p:nvSpPr>
        <p:spPr>
          <a:xfrm>
            <a:off x="6537960" y="5125212"/>
            <a:ext cx="420624" cy="420624"/>
          </a:xfrm>
          <a:prstGeom prst="ellipse">
            <a:avLst/>
          </a:prstGeom>
          <a:solidFill>
            <a:srgbClr val="2E6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  <a:endParaRPr sz="15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step_text_4"/>
          <p:cNvSpPr txBox="1"/>
          <p:nvPr/>
        </p:nvSpPr>
        <p:spPr>
          <a:xfrm>
            <a:off x="7132320" y="5020055"/>
            <a:ext cx="4325112" cy="630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chemeClr val="tx1"/>
                </a:solidFill>
                <a:latin typeface="Calibri"/>
              </a:rPr>
              <a:t>Phase 5: compare groups </a:t>
            </a:r>
            <a:r>
              <a:rPr sz="1500" b="0">
                <a:solidFill>
                  <a:schemeClr val="accent6"/>
                </a:solidFill>
                <a:latin typeface="Calibri"/>
              </a:rPr>
              <a:t>over time and across ages; find what predicts poor care</a:t>
            </a:r>
            <a:endParaRPr sz="1500" b="0">
              <a:solidFill>
                <a:schemeClr val="accent6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HDSI3 Komodo">
  <a:themeElements>
    <a:clrScheme name="OHDSI3 Komodo">
      <a:dk1>
        <a:srgbClr val="13293D"/>
      </a:dk1>
      <a:lt1>
        <a:srgbClr val="FFFFFF"/>
      </a:lt1>
      <a:dk2>
        <a:srgbClr val="2E6A8E"/>
      </a:dk2>
      <a:lt2>
        <a:srgbClr val="EEF3F7"/>
      </a:lt2>
      <a:accent1>
        <a:srgbClr val="2E6A8E"/>
      </a:accent1>
      <a:accent2>
        <a:srgbClr val="2F7D52"/>
      </a:accent2>
      <a:accent3>
        <a:srgbClr val="C2593A"/>
      </a:accent3>
      <a:accent4>
        <a:srgbClr val="8796A3"/>
      </a:accent4>
      <a:accent5>
        <a:srgbClr val="D9A441"/>
      </a:accent5>
      <a:accent6>
        <a:srgbClr val="5B6B7A"/>
      </a:accent6>
      <a:hlink>
        <a:srgbClr val="2E6A8E"/>
      </a:hlink>
      <a:folHlink>
        <a:srgbClr val="5B6B7A"/>
      </a:folHlink>
    </a:clrScheme>
    <a:fontScheme name="OHDSI3 Komod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1863</Words>
  <Application>WPS Sheets</Application>
  <PresentationFormat>On-screen Show (16:9)</PresentationFormat>
  <Paragraphs>120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Calibri</vt:lpstr>
      <vt:lpstr>Helvetica Neue</vt:lpstr>
      <vt:lpstr>Calibri</vt:lpstr>
      <vt:lpstr>Calibri</vt:lpstr>
      <vt:lpstr>Calibri</vt:lpstr>
      <vt:lpstr>Cambria</vt:lpstr>
      <vt:lpstr>微软雅黑</vt:lpstr>
      <vt:lpstr>Arial Unicode MS</vt:lpstr>
      <vt:lpstr>Office Theme</vt:lpstr>
      <vt:lpstr>OHDSI3 Komodo</vt:lpstr>
      <vt:lpstr>Part 3: Progress, Challenges &amp; Next Steps</vt:lpstr>
      <vt:lpstr>Progress so far</vt:lpstr>
      <vt:lpstr>Stumbling blocks: identifying the HIV population</vt:lpstr>
      <vt:lpstr>Challenges and what’s left to do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Faye Wang</cp:lastModifiedBy>
  <cp:revision>26</cp:revision>
  <dcterms:created xsi:type="dcterms:W3CDTF">2026-10-22T16:06:58Z</dcterms:created>
  <dcterms:modified xsi:type="dcterms:W3CDTF">2026-10-22T16:06:58Z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09738C41E280045AD133BA6A792874D3_42</vt:lpwstr>
  </property>
  <property fmtid="{D5CDD505-2E9C-101B-9397-08002B2CF9AE}" pid="3" name="KSOProductBuildVer">
    <vt:lpwstr>1033-12.1.26035.26035</vt:lpwstr>
  </property>
</Properties>
</file>